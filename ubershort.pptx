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82" r:id="rId2"/>
    <p:sldId id="442" r:id="rId3"/>
    <p:sldId id="416" r:id="rId4"/>
    <p:sldId id="417" r:id="rId5"/>
    <p:sldId id="413" r:id="rId6"/>
    <p:sldId id="285" r:id="rId7"/>
    <p:sldId id="313" r:id="rId8"/>
    <p:sldId id="415" r:id="rId9"/>
    <p:sldId id="418" r:id="rId10"/>
    <p:sldId id="419" r:id="rId11"/>
    <p:sldId id="420" r:id="rId12"/>
    <p:sldId id="331" r:id="rId13"/>
    <p:sldId id="265" r:id="rId14"/>
    <p:sldId id="315" r:id="rId15"/>
    <p:sldId id="326" r:id="rId16"/>
    <p:sldId id="325" r:id="rId17"/>
    <p:sldId id="317" r:id="rId18"/>
    <p:sldId id="320" r:id="rId19"/>
    <p:sldId id="321" r:id="rId20"/>
    <p:sldId id="322" r:id="rId21"/>
    <p:sldId id="327" r:id="rId22"/>
    <p:sldId id="323" r:id="rId23"/>
    <p:sldId id="328" r:id="rId24"/>
    <p:sldId id="42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16"/>
    <p:restoredTop sz="73469"/>
  </p:normalViewPr>
  <p:slideViewPr>
    <p:cSldViewPr snapToGrid="0" snapToObjects="1">
      <p:cViewPr varScale="1">
        <p:scale>
          <a:sx n="92" d="100"/>
          <a:sy n="92" d="100"/>
        </p:scale>
        <p:origin x="1768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 Morton, Fiona" userId="918cd356-21cb-4931-9e35-09501171b817" providerId="ADAL" clId="{6338B00B-616C-401A-990E-87EBF534CA4B}"/>
    <pc:docChg chg="custSel addSld delSld modSld sldOrd delMainMaster">
      <pc:chgData name="Scott Morton, Fiona" userId="918cd356-21cb-4931-9e35-09501171b817" providerId="ADAL" clId="{6338B00B-616C-401A-990E-87EBF534CA4B}" dt="2023-04-06T19:08:16.070" v="1845" actId="20577"/>
      <pc:docMkLst>
        <pc:docMk/>
      </pc:docMkLst>
      <pc:sldChg chg="del">
        <pc:chgData name="Scott Morton, Fiona" userId="918cd356-21cb-4931-9e35-09501171b817" providerId="ADAL" clId="{6338B00B-616C-401A-990E-87EBF534CA4B}" dt="2023-04-06T18:53:35.305" v="531" actId="47"/>
        <pc:sldMkLst>
          <pc:docMk/>
          <pc:sldMk cId="3064109858" sldId="257"/>
        </pc:sldMkLst>
      </pc:sldChg>
      <pc:sldChg chg="modSp mod">
        <pc:chgData name="Scott Morton, Fiona" userId="918cd356-21cb-4931-9e35-09501171b817" providerId="ADAL" clId="{6338B00B-616C-401A-990E-87EBF534CA4B}" dt="2023-04-06T18:53:08.392" v="529" actId="122"/>
        <pc:sldMkLst>
          <pc:docMk/>
          <pc:sldMk cId="1011028809" sldId="260"/>
        </pc:sldMkLst>
        <pc:spChg chg="mod">
          <ac:chgData name="Scott Morton, Fiona" userId="918cd356-21cb-4931-9e35-09501171b817" providerId="ADAL" clId="{6338B00B-616C-401A-990E-87EBF534CA4B}" dt="2023-04-06T18:53:08.392" v="529" actId="122"/>
          <ac:spMkLst>
            <pc:docMk/>
            <pc:sldMk cId="1011028809" sldId="260"/>
            <ac:spMk id="2" creationId="{5D7AF4CB-C05D-48F7-93E2-B8C7B5FFF199}"/>
          </ac:spMkLst>
        </pc:spChg>
      </pc:sldChg>
      <pc:sldChg chg="del">
        <pc:chgData name="Scott Morton, Fiona" userId="918cd356-21cb-4931-9e35-09501171b817" providerId="ADAL" clId="{6338B00B-616C-401A-990E-87EBF534CA4B}" dt="2023-04-06T18:53:38.321" v="533" actId="47"/>
        <pc:sldMkLst>
          <pc:docMk/>
          <pc:sldMk cId="637075267" sldId="261"/>
        </pc:sldMkLst>
      </pc:sldChg>
      <pc:sldChg chg="modSp mod">
        <pc:chgData name="Scott Morton, Fiona" userId="918cd356-21cb-4931-9e35-09501171b817" providerId="ADAL" clId="{6338B00B-616C-401A-990E-87EBF534CA4B}" dt="2023-04-06T18:57:09.522" v="730" actId="27636"/>
        <pc:sldMkLst>
          <pc:docMk/>
          <pc:sldMk cId="1306442167" sldId="264"/>
        </pc:sldMkLst>
        <pc:spChg chg="mod">
          <ac:chgData name="Scott Morton, Fiona" userId="918cd356-21cb-4931-9e35-09501171b817" providerId="ADAL" clId="{6338B00B-616C-401A-990E-87EBF534CA4B}" dt="2023-04-06T18:57:09.522" v="730" actId="27636"/>
          <ac:spMkLst>
            <pc:docMk/>
            <pc:sldMk cId="1306442167" sldId="264"/>
            <ac:spMk id="3" creationId="{00000000-0000-0000-0000-000000000000}"/>
          </ac:spMkLst>
        </pc:spChg>
      </pc:sldChg>
      <pc:sldChg chg="modSp mod ord">
        <pc:chgData name="Scott Morton, Fiona" userId="918cd356-21cb-4931-9e35-09501171b817" providerId="ADAL" clId="{6338B00B-616C-401A-990E-87EBF534CA4B}" dt="2023-04-06T19:06:09.982" v="1605" actId="20577"/>
        <pc:sldMkLst>
          <pc:docMk/>
          <pc:sldMk cId="861698142" sldId="265"/>
        </pc:sldMkLst>
        <pc:spChg chg="mod">
          <ac:chgData name="Scott Morton, Fiona" userId="918cd356-21cb-4931-9e35-09501171b817" providerId="ADAL" clId="{6338B00B-616C-401A-990E-87EBF534CA4B}" dt="2023-04-06T19:06:09.982" v="1605" actId="20577"/>
          <ac:spMkLst>
            <pc:docMk/>
            <pc:sldMk cId="861698142" sldId="265"/>
            <ac:spMk id="3" creationId="{00000000-0000-0000-0000-000000000000}"/>
          </ac:spMkLst>
        </pc:spChg>
      </pc:sldChg>
      <pc:sldChg chg="modSp mod">
        <pc:chgData name="Scott Morton, Fiona" userId="918cd356-21cb-4931-9e35-09501171b817" providerId="ADAL" clId="{6338B00B-616C-401A-990E-87EBF534CA4B}" dt="2023-04-06T19:03:47.911" v="1512" actId="255"/>
        <pc:sldMkLst>
          <pc:docMk/>
          <pc:sldMk cId="1272065012" sldId="266"/>
        </pc:sldMkLst>
        <pc:spChg chg="mod">
          <ac:chgData name="Scott Morton, Fiona" userId="918cd356-21cb-4931-9e35-09501171b817" providerId="ADAL" clId="{6338B00B-616C-401A-990E-87EBF534CA4B}" dt="2023-04-06T19:03:47.911" v="1512" actId="255"/>
          <ac:spMkLst>
            <pc:docMk/>
            <pc:sldMk cId="1272065012" sldId="266"/>
            <ac:spMk id="3" creationId="{00000000-0000-0000-0000-000000000000}"/>
          </ac:spMkLst>
        </pc:spChg>
      </pc:sldChg>
      <pc:sldChg chg="modSp mod">
        <pc:chgData name="Scott Morton, Fiona" userId="918cd356-21cb-4931-9e35-09501171b817" providerId="ADAL" clId="{6338B00B-616C-401A-990E-87EBF534CA4B}" dt="2023-04-06T19:04:10.751" v="1518" actId="27636"/>
        <pc:sldMkLst>
          <pc:docMk/>
          <pc:sldMk cId="2260223401" sldId="267"/>
        </pc:sldMkLst>
        <pc:spChg chg="mod">
          <ac:chgData name="Scott Morton, Fiona" userId="918cd356-21cb-4931-9e35-09501171b817" providerId="ADAL" clId="{6338B00B-616C-401A-990E-87EBF534CA4B}" dt="2023-04-06T19:04:10.751" v="1518" actId="27636"/>
          <ac:spMkLst>
            <pc:docMk/>
            <pc:sldMk cId="2260223401" sldId="267"/>
            <ac:spMk id="3" creationId="{00000000-0000-0000-0000-000000000000}"/>
          </ac:spMkLst>
        </pc:spChg>
      </pc:sldChg>
      <pc:sldChg chg="del">
        <pc:chgData name="Scott Morton, Fiona" userId="918cd356-21cb-4931-9e35-09501171b817" providerId="ADAL" clId="{6338B00B-616C-401A-990E-87EBF534CA4B}" dt="2023-04-06T18:53:33.196" v="530" actId="47"/>
        <pc:sldMkLst>
          <pc:docMk/>
          <pc:sldMk cId="3858158615" sldId="268"/>
        </pc:sldMkLst>
      </pc:sldChg>
      <pc:sldChg chg="del">
        <pc:chgData name="Scott Morton, Fiona" userId="918cd356-21cb-4931-9e35-09501171b817" providerId="ADAL" clId="{6338B00B-616C-401A-990E-87EBF534CA4B}" dt="2023-04-06T18:48:58.300" v="2" actId="47"/>
        <pc:sldMkLst>
          <pc:docMk/>
          <pc:sldMk cId="2367380042" sldId="277"/>
        </pc:sldMkLst>
      </pc:sldChg>
      <pc:sldChg chg="del">
        <pc:chgData name="Scott Morton, Fiona" userId="918cd356-21cb-4931-9e35-09501171b817" providerId="ADAL" clId="{6338B00B-616C-401A-990E-87EBF534CA4B}" dt="2023-04-06T18:49:12.935" v="8" actId="47"/>
        <pc:sldMkLst>
          <pc:docMk/>
          <pc:sldMk cId="3677564269" sldId="279"/>
        </pc:sldMkLst>
      </pc:sldChg>
      <pc:sldChg chg="del">
        <pc:chgData name="Scott Morton, Fiona" userId="918cd356-21cb-4931-9e35-09501171b817" providerId="ADAL" clId="{6338B00B-616C-401A-990E-87EBF534CA4B}" dt="2023-04-06T18:49:11.991" v="7" actId="47"/>
        <pc:sldMkLst>
          <pc:docMk/>
          <pc:sldMk cId="2993466714" sldId="281"/>
        </pc:sldMkLst>
      </pc:sldChg>
      <pc:sldChg chg="modSp mod">
        <pc:chgData name="Scott Morton, Fiona" userId="918cd356-21cb-4931-9e35-09501171b817" providerId="ADAL" clId="{6338B00B-616C-401A-990E-87EBF534CA4B}" dt="2023-04-06T18:49:59.230" v="54" actId="255"/>
        <pc:sldMkLst>
          <pc:docMk/>
          <pc:sldMk cId="3514840025" sldId="282"/>
        </pc:sldMkLst>
        <pc:spChg chg="mod">
          <ac:chgData name="Scott Morton, Fiona" userId="918cd356-21cb-4931-9e35-09501171b817" providerId="ADAL" clId="{6338B00B-616C-401A-990E-87EBF534CA4B}" dt="2023-04-06T18:49:59.230" v="54" actId="255"/>
          <ac:spMkLst>
            <pc:docMk/>
            <pc:sldMk cId="3514840025" sldId="282"/>
            <ac:spMk id="2" creationId="{00000000-0000-0000-0000-000000000000}"/>
          </ac:spMkLst>
        </pc:spChg>
      </pc:sldChg>
      <pc:sldChg chg="del">
        <pc:chgData name="Scott Morton, Fiona" userId="918cd356-21cb-4931-9e35-09501171b817" providerId="ADAL" clId="{6338B00B-616C-401A-990E-87EBF534CA4B}" dt="2023-04-06T18:49:24.215" v="13" actId="47"/>
        <pc:sldMkLst>
          <pc:docMk/>
          <pc:sldMk cId="3896835176" sldId="283"/>
        </pc:sldMkLst>
      </pc:sldChg>
      <pc:sldChg chg="del">
        <pc:chgData name="Scott Morton, Fiona" userId="918cd356-21cb-4931-9e35-09501171b817" providerId="ADAL" clId="{6338B00B-616C-401A-990E-87EBF534CA4B}" dt="2023-04-06T18:49:08.448" v="4" actId="47"/>
        <pc:sldMkLst>
          <pc:docMk/>
          <pc:sldMk cId="832413302" sldId="285"/>
        </pc:sldMkLst>
      </pc:sldChg>
      <pc:sldChg chg="del">
        <pc:chgData name="Scott Morton, Fiona" userId="918cd356-21cb-4931-9e35-09501171b817" providerId="ADAL" clId="{6338B00B-616C-401A-990E-87EBF534CA4B}" dt="2023-04-06T18:49:09.191" v="5" actId="47"/>
        <pc:sldMkLst>
          <pc:docMk/>
          <pc:sldMk cId="631437879" sldId="286"/>
        </pc:sldMkLst>
      </pc:sldChg>
      <pc:sldChg chg="del">
        <pc:chgData name="Scott Morton, Fiona" userId="918cd356-21cb-4931-9e35-09501171b817" providerId="ADAL" clId="{6338B00B-616C-401A-990E-87EBF534CA4B}" dt="2023-04-06T18:49:11.008" v="6" actId="47"/>
        <pc:sldMkLst>
          <pc:docMk/>
          <pc:sldMk cId="3633974883" sldId="295"/>
        </pc:sldMkLst>
      </pc:sldChg>
      <pc:sldChg chg="del">
        <pc:chgData name="Scott Morton, Fiona" userId="918cd356-21cb-4931-9e35-09501171b817" providerId="ADAL" clId="{6338B00B-616C-401A-990E-87EBF534CA4B}" dt="2023-04-06T18:53:36.930" v="532" actId="47"/>
        <pc:sldMkLst>
          <pc:docMk/>
          <pc:sldMk cId="1144998581" sldId="298"/>
        </pc:sldMkLst>
      </pc:sldChg>
      <pc:sldChg chg="del">
        <pc:chgData name="Scott Morton, Fiona" userId="918cd356-21cb-4931-9e35-09501171b817" providerId="ADAL" clId="{6338B00B-616C-401A-990E-87EBF534CA4B}" dt="2023-04-06T18:53:39.514" v="534" actId="47"/>
        <pc:sldMkLst>
          <pc:docMk/>
          <pc:sldMk cId="54708992" sldId="300"/>
        </pc:sldMkLst>
      </pc:sldChg>
      <pc:sldChg chg="del">
        <pc:chgData name="Scott Morton, Fiona" userId="918cd356-21cb-4931-9e35-09501171b817" providerId="ADAL" clId="{6338B00B-616C-401A-990E-87EBF534CA4B}" dt="2023-04-06T18:53:40.623" v="535" actId="47"/>
        <pc:sldMkLst>
          <pc:docMk/>
          <pc:sldMk cId="1552786980" sldId="304"/>
        </pc:sldMkLst>
      </pc:sldChg>
      <pc:sldChg chg="del">
        <pc:chgData name="Scott Morton, Fiona" userId="918cd356-21cb-4931-9e35-09501171b817" providerId="ADAL" clId="{6338B00B-616C-401A-990E-87EBF534CA4B}" dt="2023-04-06T18:49:15.647" v="10" actId="47"/>
        <pc:sldMkLst>
          <pc:docMk/>
          <pc:sldMk cId="2223427696" sldId="308"/>
        </pc:sldMkLst>
      </pc:sldChg>
      <pc:sldChg chg="del">
        <pc:chgData name="Scott Morton, Fiona" userId="918cd356-21cb-4931-9e35-09501171b817" providerId="ADAL" clId="{6338B00B-616C-401A-990E-87EBF534CA4B}" dt="2023-04-06T18:48:56.785" v="0" actId="47"/>
        <pc:sldMkLst>
          <pc:docMk/>
          <pc:sldMk cId="1720911843" sldId="310"/>
        </pc:sldMkLst>
      </pc:sldChg>
      <pc:sldChg chg="del">
        <pc:chgData name="Scott Morton, Fiona" userId="918cd356-21cb-4931-9e35-09501171b817" providerId="ADAL" clId="{6338B00B-616C-401A-990E-87EBF534CA4B}" dt="2023-04-06T18:49:07.504" v="3" actId="47"/>
        <pc:sldMkLst>
          <pc:docMk/>
          <pc:sldMk cId="1190203200" sldId="311"/>
        </pc:sldMkLst>
      </pc:sldChg>
      <pc:sldChg chg="del">
        <pc:chgData name="Scott Morton, Fiona" userId="918cd356-21cb-4931-9e35-09501171b817" providerId="ADAL" clId="{6338B00B-616C-401A-990E-87EBF534CA4B}" dt="2023-04-06T18:49:13.880" v="9" actId="47"/>
        <pc:sldMkLst>
          <pc:docMk/>
          <pc:sldMk cId="3444751180" sldId="312"/>
        </pc:sldMkLst>
      </pc:sldChg>
      <pc:sldChg chg="modSp new mod ord">
        <pc:chgData name="Scott Morton, Fiona" userId="918cd356-21cb-4931-9e35-09501171b817" providerId="ADAL" clId="{6338B00B-616C-401A-990E-87EBF534CA4B}" dt="2023-04-06T18:52:52.388" v="492"/>
        <pc:sldMkLst>
          <pc:docMk/>
          <pc:sldMk cId="1998821980" sldId="314"/>
        </pc:sldMkLst>
        <pc:spChg chg="mod">
          <ac:chgData name="Scott Morton, Fiona" userId="918cd356-21cb-4931-9e35-09501171b817" providerId="ADAL" clId="{6338B00B-616C-401A-990E-87EBF534CA4B}" dt="2023-04-06T18:50:43.606" v="87" actId="20577"/>
          <ac:spMkLst>
            <pc:docMk/>
            <pc:sldMk cId="1998821980" sldId="314"/>
            <ac:spMk id="2" creationId="{CF0CEC41-2BFA-942F-0764-D46A7EB0CCCC}"/>
          </ac:spMkLst>
        </pc:spChg>
        <pc:spChg chg="mod">
          <ac:chgData name="Scott Morton, Fiona" userId="918cd356-21cb-4931-9e35-09501171b817" providerId="ADAL" clId="{6338B00B-616C-401A-990E-87EBF534CA4B}" dt="2023-04-06T18:52:41.094" v="490" actId="20577"/>
          <ac:spMkLst>
            <pc:docMk/>
            <pc:sldMk cId="1998821980" sldId="314"/>
            <ac:spMk id="3" creationId="{4F0A35E3-E0C5-1FB2-E06E-5660F44735E1}"/>
          </ac:spMkLst>
        </pc:spChg>
      </pc:sldChg>
      <pc:sldChg chg="modSp new mod ord">
        <pc:chgData name="Scott Morton, Fiona" userId="918cd356-21cb-4931-9e35-09501171b817" providerId="ADAL" clId="{6338B00B-616C-401A-990E-87EBF534CA4B}" dt="2023-04-06T19:07:41.830" v="1762" actId="20577"/>
        <pc:sldMkLst>
          <pc:docMk/>
          <pc:sldMk cId="1141770950" sldId="315"/>
        </pc:sldMkLst>
        <pc:spChg chg="mod">
          <ac:chgData name="Scott Morton, Fiona" userId="918cd356-21cb-4931-9e35-09501171b817" providerId="ADAL" clId="{6338B00B-616C-401A-990E-87EBF534CA4B}" dt="2023-04-06T18:53:59.829" v="551" actId="20577"/>
          <ac:spMkLst>
            <pc:docMk/>
            <pc:sldMk cId="1141770950" sldId="315"/>
            <ac:spMk id="2" creationId="{C41E0CC7-EFDE-AC92-3B6B-6D7A94C4FEBB}"/>
          </ac:spMkLst>
        </pc:spChg>
        <pc:spChg chg="mod">
          <ac:chgData name="Scott Morton, Fiona" userId="918cd356-21cb-4931-9e35-09501171b817" providerId="ADAL" clId="{6338B00B-616C-401A-990E-87EBF534CA4B}" dt="2023-04-06T19:07:41.830" v="1762" actId="20577"/>
          <ac:spMkLst>
            <pc:docMk/>
            <pc:sldMk cId="1141770950" sldId="315"/>
            <ac:spMk id="3" creationId="{9A78D4D9-DE08-3E3C-CE5D-95FBD586108A}"/>
          </ac:spMkLst>
        </pc:spChg>
      </pc:sldChg>
      <pc:sldChg chg="modSp new mod">
        <pc:chgData name="Scott Morton, Fiona" userId="918cd356-21cb-4931-9e35-09501171b817" providerId="ADAL" clId="{6338B00B-616C-401A-990E-87EBF534CA4B}" dt="2023-04-06T19:03:08.599" v="1508" actId="20577"/>
        <pc:sldMkLst>
          <pc:docMk/>
          <pc:sldMk cId="3012100121" sldId="316"/>
        </pc:sldMkLst>
        <pc:spChg chg="mod">
          <ac:chgData name="Scott Morton, Fiona" userId="918cd356-21cb-4931-9e35-09501171b817" providerId="ADAL" clId="{6338B00B-616C-401A-990E-87EBF534CA4B}" dt="2023-04-06T19:01:38.661" v="1189" actId="20577"/>
          <ac:spMkLst>
            <pc:docMk/>
            <pc:sldMk cId="3012100121" sldId="316"/>
            <ac:spMk id="2" creationId="{279B55BD-43FC-96BA-2D3B-1D57C62C8612}"/>
          </ac:spMkLst>
        </pc:spChg>
        <pc:spChg chg="mod">
          <ac:chgData name="Scott Morton, Fiona" userId="918cd356-21cb-4931-9e35-09501171b817" providerId="ADAL" clId="{6338B00B-616C-401A-990E-87EBF534CA4B}" dt="2023-04-06T19:03:08.599" v="1508" actId="20577"/>
          <ac:spMkLst>
            <pc:docMk/>
            <pc:sldMk cId="3012100121" sldId="316"/>
            <ac:spMk id="3" creationId="{ED6CADCC-E94A-8533-F44C-91F87139C915}"/>
          </ac:spMkLst>
        </pc:spChg>
      </pc:sldChg>
      <pc:sldChg chg="modSp new mod">
        <pc:chgData name="Scott Morton, Fiona" userId="918cd356-21cb-4931-9e35-09501171b817" providerId="ADAL" clId="{6338B00B-616C-401A-990E-87EBF534CA4B}" dt="2023-04-06T19:08:16.070" v="1845" actId="20577"/>
        <pc:sldMkLst>
          <pc:docMk/>
          <pc:sldMk cId="1050954465" sldId="317"/>
        </pc:sldMkLst>
        <pc:spChg chg="mod">
          <ac:chgData name="Scott Morton, Fiona" userId="918cd356-21cb-4931-9e35-09501171b817" providerId="ADAL" clId="{6338B00B-616C-401A-990E-87EBF534CA4B}" dt="2023-04-06T19:07:56.109" v="1776" actId="20577"/>
          <ac:spMkLst>
            <pc:docMk/>
            <pc:sldMk cId="1050954465" sldId="317"/>
            <ac:spMk id="2" creationId="{A0E104F6-5C27-98D4-12C7-525EB9A0C9B7}"/>
          </ac:spMkLst>
        </pc:spChg>
        <pc:spChg chg="mod">
          <ac:chgData name="Scott Morton, Fiona" userId="918cd356-21cb-4931-9e35-09501171b817" providerId="ADAL" clId="{6338B00B-616C-401A-990E-87EBF534CA4B}" dt="2023-04-06T19:08:16.070" v="1845" actId="20577"/>
          <ac:spMkLst>
            <pc:docMk/>
            <pc:sldMk cId="1050954465" sldId="317"/>
            <ac:spMk id="3" creationId="{3444A541-B880-18B8-3CAB-4A2DC2E6640E}"/>
          </ac:spMkLst>
        </pc:spChg>
      </pc:sldChg>
      <pc:sldChg chg="del">
        <pc:chgData name="Scott Morton, Fiona" userId="918cd356-21cb-4931-9e35-09501171b817" providerId="ADAL" clId="{6338B00B-616C-401A-990E-87EBF534CA4B}" dt="2023-04-06T18:48:57.647" v="1" actId="47"/>
        <pc:sldMkLst>
          <pc:docMk/>
          <pc:sldMk cId="2545379334" sldId="318"/>
        </pc:sldMkLst>
      </pc:sldChg>
      <pc:sldChg chg="modSp new mod">
        <pc:chgData name="Scott Morton, Fiona" userId="918cd356-21cb-4931-9e35-09501171b817" providerId="ADAL" clId="{6338B00B-616C-401A-990E-87EBF534CA4B}" dt="2023-04-06T18:57:18.334" v="731" actId="20577"/>
        <pc:sldMkLst>
          <pc:docMk/>
          <pc:sldMk cId="2735268341" sldId="318"/>
        </pc:sldMkLst>
        <pc:spChg chg="mod">
          <ac:chgData name="Scott Morton, Fiona" userId="918cd356-21cb-4931-9e35-09501171b817" providerId="ADAL" clId="{6338B00B-616C-401A-990E-87EBF534CA4B}" dt="2023-04-06T18:55:22.869" v="621" actId="20577"/>
          <ac:spMkLst>
            <pc:docMk/>
            <pc:sldMk cId="2735268341" sldId="318"/>
            <ac:spMk id="2" creationId="{8F88DF44-27C0-9251-FA62-BBC88D2E806C}"/>
          </ac:spMkLst>
        </pc:spChg>
        <pc:spChg chg="mod">
          <ac:chgData name="Scott Morton, Fiona" userId="918cd356-21cb-4931-9e35-09501171b817" providerId="ADAL" clId="{6338B00B-616C-401A-990E-87EBF534CA4B}" dt="2023-04-06T18:57:18.334" v="731" actId="20577"/>
          <ac:spMkLst>
            <pc:docMk/>
            <pc:sldMk cId="2735268341" sldId="318"/>
            <ac:spMk id="3" creationId="{CA4EB015-2811-2008-6096-A49EBC90AD7F}"/>
          </ac:spMkLst>
        </pc:spChg>
      </pc:sldChg>
      <pc:sldChg chg="del">
        <pc:chgData name="Scott Morton, Fiona" userId="918cd356-21cb-4931-9e35-09501171b817" providerId="ADAL" clId="{6338B00B-616C-401A-990E-87EBF534CA4B}" dt="2023-04-06T18:49:17.743" v="11" actId="47"/>
        <pc:sldMkLst>
          <pc:docMk/>
          <pc:sldMk cId="1417970542" sldId="319"/>
        </pc:sldMkLst>
      </pc:sldChg>
      <pc:sldChg chg="modSp new mod">
        <pc:chgData name="Scott Morton, Fiona" userId="918cd356-21cb-4931-9e35-09501171b817" providerId="ADAL" clId="{6338B00B-616C-401A-990E-87EBF534CA4B}" dt="2023-04-06T19:05:43.526" v="1601" actId="255"/>
        <pc:sldMkLst>
          <pc:docMk/>
          <pc:sldMk cId="2251791514" sldId="319"/>
        </pc:sldMkLst>
        <pc:spChg chg="mod">
          <ac:chgData name="Scott Morton, Fiona" userId="918cd356-21cb-4931-9e35-09501171b817" providerId="ADAL" clId="{6338B00B-616C-401A-990E-87EBF534CA4B}" dt="2023-04-06T19:05:43.526" v="1601" actId="255"/>
          <ac:spMkLst>
            <pc:docMk/>
            <pc:sldMk cId="2251791514" sldId="319"/>
            <ac:spMk id="3" creationId="{EBFF3373-C68F-5F30-C773-E900AC0E2879}"/>
          </ac:spMkLst>
        </pc:spChg>
      </pc:sldChg>
      <pc:sldChg chg="del">
        <pc:chgData name="Scott Morton, Fiona" userId="918cd356-21cb-4931-9e35-09501171b817" providerId="ADAL" clId="{6338B00B-616C-401A-990E-87EBF534CA4B}" dt="2023-04-06T18:49:20.823" v="12" actId="47"/>
        <pc:sldMkLst>
          <pc:docMk/>
          <pc:sldMk cId="3502015490" sldId="320"/>
        </pc:sldMkLst>
      </pc:sldChg>
      <pc:sldMasterChg chg="del delSldLayout">
        <pc:chgData name="Scott Morton, Fiona" userId="918cd356-21cb-4931-9e35-09501171b817" providerId="ADAL" clId="{6338B00B-616C-401A-990E-87EBF534CA4B}" dt="2023-04-06T18:53:40.623" v="535" actId="47"/>
        <pc:sldMasterMkLst>
          <pc:docMk/>
          <pc:sldMasterMk cId="967205983" sldId="2147483660"/>
        </pc:sldMasterMkLst>
        <pc:sldLayoutChg chg="del">
          <pc:chgData name="Scott Morton, Fiona" userId="918cd356-21cb-4931-9e35-09501171b817" providerId="ADAL" clId="{6338B00B-616C-401A-990E-87EBF534CA4B}" dt="2023-04-06T18:53:40.623" v="535" actId="47"/>
          <pc:sldLayoutMkLst>
            <pc:docMk/>
            <pc:sldMasterMk cId="967205983" sldId="2147483660"/>
            <pc:sldLayoutMk cId="1041406807" sldId="2147483661"/>
          </pc:sldLayoutMkLst>
        </pc:sldLayoutChg>
        <pc:sldLayoutChg chg="del">
          <pc:chgData name="Scott Morton, Fiona" userId="918cd356-21cb-4931-9e35-09501171b817" providerId="ADAL" clId="{6338B00B-616C-401A-990E-87EBF534CA4B}" dt="2023-04-06T18:53:40.623" v="535" actId="47"/>
          <pc:sldLayoutMkLst>
            <pc:docMk/>
            <pc:sldMasterMk cId="967205983" sldId="2147483660"/>
            <pc:sldLayoutMk cId="2982028367" sldId="2147483662"/>
          </pc:sldLayoutMkLst>
        </pc:sldLayoutChg>
        <pc:sldLayoutChg chg="del">
          <pc:chgData name="Scott Morton, Fiona" userId="918cd356-21cb-4931-9e35-09501171b817" providerId="ADAL" clId="{6338B00B-616C-401A-990E-87EBF534CA4B}" dt="2023-04-06T18:53:40.623" v="535" actId="47"/>
          <pc:sldLayoutMkLst>
            <pc:docMk/>
            <pc:sldMasterMk cId="967205983" sldId="2147483660"/>
            <pc:sldLayoutMk cId="394000641" sldId="2147483663"/>
          </pc:sldLayoutMkLst>
        </pc:sldLayoutChg>
        <pc:sldLayoutChg chg="del">
          <pc:chgData name="Scott Morton, Fiona" userId="918cd356-21cb-4931-9e35-09501171b817" providerId="ADAL" clId="{6338B00B-616C-401A-990E-87EBF534CA4B}" dt="2023-04-06T18:53:40.623" v="535" actId="47"/>
          <pc:sldLayoutMkLst>
            <pc:docMk/>
            <pc:sldMasterMk cId="967205983" sldId="2147483660"/>
            <pc:sldLayoutMk cId="1643444603" sldId="2147483664"/>
          </pc:sldLayoutMkLst>
        </pc:sldLayoutChg>
        <pc:sldLayoutChg chg="del">
          <pc:chgData name="Scott Morton, Fiona" userId="918cd356-21cb-4931-9e35-09501171b817" providerId="ADAL" clId="{6338B00B-616C-401A-990E-87EBF534CA4B}" dt="2023-04-06T18:53:40.623" v="535" actId="47"/>
          <pc:sldLayoutMkLst>
            <pc:docMk/>
            <pc:sldMasterMk cId="967205983" sldId="2147483660"/>
            <pc:sldLayoutMk cId="1472622254" sldId="2147483665"/>
          </pc:sldLayoutMkLst>
        </pc:sldLayoutChg>
        <pc:sldLayoutChg chg="del">
          <pc:chgData name="Scott Morton, Fiona" userId="918cd356-21cb-4931-9e35-09501171b817" providerId="ADAL" clId="{6338B00B-616C-401A-990E-87EBF534CA4B}" dt="2023-04-06T18:53:40.623" v="535" actId="47"/>
          <pc:sldLayoutMkLst>
            <pc:docMk/>
            <pc:sldMasterMk cId="967205983" sldId="2147483660"/>
            <pc:sldLayoutMk cId="775860594" sldId="2147483666"/>
          </pc:sldLayoutMkLst>
        </pc:sldLayoutChg>
        <pc:sldLayoutChg chg="del">
          <pc:chgData name="Scott Morton, Fiona" userId="918cd356-21cb-4931-9e35-09501171b817" providerId="ADAL" clId="{6338B00B-616C-401A-990E-87EBF534CA4B}" dt="2023-04-06T18:53:40.623" v="535" actId="47"/>
          <pc:sldLayoutMkLst>
            <pc:docMk/>
            <pc:sldMasterMk cId="967205983" sldId="2147483660"/>
            <pc:sldLayoutMk cId="3156701940" sldId="2147483667"/>
          </pc:sldLayoutMkLst>
        </pc:sldLayoutChg>
        <pc:sldLayoutChg chg="del">
          <pc:chgData name="Scott Morton, Fiona" userId="918cd356-21cb-4931-9e35-09501171b817" providerId="ADAL" clId="{6338B00B-616C-401A-990E-87EBF534CA4B}" dt="2023-04-06T18:53:40.623" v="535" actId="47"/>
          <pc:sldLayoutMkLst>
            <pc:docMk/>
            <pc:sldMasterMk cId="967205983" sldId="2147483660"/>
            <pc:sldLayoutMk cId="1738042043" sldId="2147483668"/>
          </pc:sldLayoutMkLst>
        </pc:sldLayoutChg>
        <pc:sldLayoutChg chg="del">
          <pc:chgData name="Scott Morton, Fiona" userId="918cd356-21cb-4931-9e35-09501171b817" providerId="ADAL" clId="{6338B00B-616C-401A-990E-87EBF534CA4B}" dt="2023-04-06T18:53:40.623" v="535" actId="47"/>
          <pc:sldLayoutMkLst>
            <pc:docMk/>
            <pc:sldMasterMk cId="967205983" sldId="2147483660"/>
            <pc:sldLayoutMk cId="2519031423" sldId="2147483669"/>
          </pc:sldLayoutMkLst>
        </pc:sldLayoutChg>
        <pc:sldLayoutChg chg="del">
          <pc:chgData name="Scott Morton, Fiona" userId="918cd356-21cb-4931-9e35-09501171b817" providerId="ADAL" clId="{6338B00B-616C-401A-990E-87EBF534CA4B}" dt="2023-04-06T18:53:40.623" v="535" actId="47"/>
          <pc:sldLayoutMkLst>
            <pc:docMk/>
            <pc:sldMasterMk cId="967205983" sldId="2147483660"/>
            <pc:sldLayoutMk cId="3954292900" sldId="2147483670"/>
          </pc:sldLayoutMkLst>
        </pc:sldLayoutChg>
        <pc:sldLayoutChg chg="del">
          <pc:chgData name="Scott Morton, Fiona" userId="918cd356-21cb-4931-9e35-09501171b817" providerId="ADAL" clId="{6338B00B-616C-401A-990E-87EBF534CA4B}" dt="2023-04-06T18:53:40.623" v="535" actId="47"/>
          <pc:sldLayoutMkLst>
            <pc:docMk/>
            <pc:sldMasterMk cId="967205983" sldId="2147483660"/>
            <pc:sldLayoutMk cId="152905905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45C89-9DE7-46E6-9A51-F7249DED2407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A445A6-3A37-48D6-AD16-B539A607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65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chatgpt://generic-entity/?number=0" TargetMode="External"/><Relationship Id="rId7" Type="http://schemas.openxmlformats.org/officeDocument/2006/relationships/hyperlink" Target="chatgpt://generic-entity/?number=4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6" Type="http://schemas.openxmlformats.org/officeDocument/2006/relationships/hyperlink" Target="chatgpt://generic-entity/?number=3" TargetMode="External"/><Relationship Id="rId5" Type="http://schemas.openxmlformats.org/officeDocument/2006/relationships/hyperlink" Target="chatgpt://generic-entity/?number=2" TargetMode="External"/><Relationship Id="rId4" Type="http://schemas.openxmlformats.org/officeDocument/2006/relationships/hyperlink" Target="chatgpt://generic-entity/?number=1" TargetMode="Externa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Uber good because (1) good review of things we have seen (chicken and egg, ratings and review, platform v pipeline) (2) new things (scale and scope and regulation)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19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5E3EA-97E4-F99E-2FBC-99E98263F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EE471-3645-0094-66F7-91D46E2766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4E22AC-68CC-0990-AAB2-E73E94652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BC1D4-A4D8-941D-07D3-83135573A8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600004-7B26-8A4B-A018-C94FCD42030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80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3987B-1D0A-3319-92F0-9450FE7DB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ACDE5F-3FAF-69E5-7705-4A539528A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3068B7-202C-6979-666E-7AC64E4F8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Taxi company with hired employees cannot respond to demand shocks well.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6095B-7D44-AE5E-693F-84E6C17A7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467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1F240-AE25-BC32-26E2-F34293ECF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F84C6-627A-6113-25E3-EDC39FDBE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0AB6E5-80AA-93D0-5D13-7E65B946A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6F064-D0FE-D228-83D6-AD43F414E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86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example of dynamic pricing.  Uber’s problem a bit easier because it is a spot market.  But harder because of space.  More interesting because it is two-sided (airline has fixed supply)</a:t>
            </a:r>
          </a:p>
          <a:p>
            <a:endParaRPr lang="en-US" dirty="0"/>
          </a:p>
          <a:p>
            <a:r>
              <a:rPr lang="en-US" dirty="0"/>
              <a:t>Uber is estimating what rides have higher demand.  Top right bottom right.</a:t>
            </a:r>
          </a:p>
          <a:p>
            <a:endParaRPr lang="en-US" dirty="0"/>
          </a:p>
          <a:p>
            <a:r>
              <a:rPr lang="en-US" dirty="0"/>
              <a:t>We can price discriminate pretty well based on destination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D6D6B0-2B04-4A9F-9458-A992F8637B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680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picture that shows why surge pricing is such a good idea.</a:t>
            </a:r>
          </a:p>
          <a:p>
            <a:endParaRPr lang="en-US" dirty="0"/>
          </a:p>
          <a:p>
            <a:r>
              <a:rPr lang="en-US" dirty="0"/>
              <a:t>Ariana Grande concert getting out.</a:t>
            </a:r>
          </a:p>
          <a:p>
            <a:endParaRPr lang="en-US" dirty="0"/>
          </a:p>
          <a:p>
            <a:r>
              <a:rPr lang="en-US" dirty="0"/>
              <a:t>Demand shock.  Uncertainty + Scarcity.  Price goes up because of scarcity.  But then more drivers show up (this was not present in Airbnb example).  Uber’s idea: surge pricing to match supply and demand.  Pretty impressive.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D6D6B0-2B04-4A9F-9458-A992F8637BA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088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Bottom.  NYC new years.  Demand shock.  Surge malfunctioned!  Why did ETA (waiting times) go down?  People left the app!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Uber cares about completion rates (not just revenue).  They stay at 100%.  Speaking of Uber’s objective, let’s see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D6D6B0-2B04-4A9F-9458-A992F8637BA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94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Looks like a Pareto improvement.</a:t>
            </a:r>
          </a:p>
          <a:p>
            <a:endParaRPr lang="en-US" dirty="0"/>
          </a:p>
          <a:p>
            <a:r>
              <a:rPr lang="en-US" dirty="0"/>
              <a:t>Explanation (not necessary to give): Multiplier: surge (price) multiplier.  What happens if we change the average multiplier.  It also applies to uniform pricing because it shifts prices by a constant multiplier.  Dotted lines are the status quo.</a:t>
            </a:r>
          </a:p>
          <a:p>
            <a:endParaRPr lang="en-US" dirty="0"/>
          </a:p>
          <a:p>
            <a:r>
              <a:rPr lang="en-US" dirty="0"/>
              <a:t>Very interesting: their multiplier maximizes rider surplus.</a:t>
            </a:r>
          </a:p>
          <a:p>
            <a:endParaRPr lang="en-US" dirty="0"/>
          </a:p>
          <a:p>
            <a:r>
              <a:rPr lang="en-US" dirty="0"/>
              <a:t>This is not taking into account long-term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D6D6B0-2B04-4A9F-9458-A992F8637BA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75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C485F-1C35-299F-A9C8-0309675F2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6C2E9A-78F9-B91D-FD76-50D0E2A54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F8F8EC-5A74-ECD3-A003-9BF205A92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Scale: not own </a:t>
            </a:r>
            <a:r>
              <a:rPr lang="en-US" dirty="0" err="1"/>
              <a:t>resrouces</a:t>
            </a:r>
            <a:r>
              <a:rPr lang="en-US" dirty="0"/>
              <a:t> (drivers, dispatchers)</a:t>
            </a:r>
          </a:p>
          <a:p>
            <a:endParaRPr lang="en-US" dirty="0"/>
          </a:p>
          <a:p>
            <a:r>
              <a:rPr lang="en-US" dirty="0"/>
              <a:t>Ratings help refine platforms and incentivize good behavior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85B2E-9ED3-AE37-8470-411142C4E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21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83097-5D9D-A5DC-6269-EDDF161E3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F6670-C0B8-EB1B-2924-2BAE26313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CA50FF-4C3D-45FE-38B8-A85D0FB9D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Helps with the network effects and chicken and egg problem: user who uses ride might also choose eats.  Drivers may work for multiple services.</a:t>
            </a:r>
          </a:p>
          <a:p>
            <a:endParaRPr lang="en-US" dirty="0"/>
          </a:p>
          <a:p>
            <a:r>
              <a:rPr lang="en-US" dirty="0"/>
              <a:t>Scale: operates in 10000 cities</a:t>
            </a:r>
          </a:p>
          <a:p>
            <a:r>
              <a:rPr lang="en-US" dirty="0"/>
              <a:t>Scale: of course fixed costs, but also startup costs and variable costs for each location</a:t>
            </a:r>
          </a:p>
          <a:p>
            <a:r>
              <a:rPr lang="en-US" dirty="0"/>
              <a:t>Scale: regulations, customs, culture, different </a:t>
            </a:r>
            <a:r>
              <a:rPr lang="en-US" dirty="0" err="1"/>
              <a:t>competitiors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E1549-D8BE-5DE2-074A-BABC7BC5B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4532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Karnataka state in India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These are examples of different regulatory challenges that Uber faces in different locations.  Workers welfare.  How they get around regulations and harm </a:t>
            </a:r>
            <a:r>
              <a:rPr lang="en-US" dirty="0" err="1"/>
              <a:t>copmetitiors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377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10620-AA5B-5E9D-8B44-1B4E548D6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6D37B6-B01C-8B28-7BD8-7E39D30A6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F8484-EA8E-2654-ED8C-AD8CA385A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CS-tech: I intentionally went into details.  This is what I think a main point of this class.</a:t>
            </a:r>
          </a:p>
          <a:p>
            <a:endParaRPr lang="en-US" dirty="0"/>
          </a:p>
          <a:p>
            <a:r>
              <a:rPr lang="en-US" dirty="0"/>
              <a:t>Beyond that you can say anything.  You can talk about my handwriting, complain that I don’t wear a tie, how much you appreciate the yummy cupcakes I just gave you.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7E5A1-E4AF-CF10-5905-90E858EA4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773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far we have been looking at things from the perspective of the firm.  But what about the social good?  </a:t>
            </a:r>
          </a:p>
          <a:p>
            <a:endParaRPr lang="en-US" dirty="0"/>
          </a:p>
          <a:p>
            <a:r>
              <a:rPr lang="en-US" dirty="0"/>
              <a:t>Later supreme court said (1) possession of monopoly power and (2) attempting to maintain it in ways distinguished from having a superior product.</a:t>
            </a:r>
          </a:p>
          <a:p>
            <a:endParaRPr lang="en-US" dirty="0"/>
          </a:p>
          <a:p>
            <a:r>
              <a:rPr lang="en-US" b="1" dirty="0"/>
              <a:t>Case 2: Tying (Browser)</a:t>
            </a:r>
          </a:p>
          <a:p>
            <a:r>
              <a:rPr lang="en-US" dirty="0"/>
              <a:t>Microsoft tied </a:t>
            </a:r>
            <a:r>
              <a:rPr lang="en-US" b="1" dirty="0">
                <a:hlinkClick r:id="rId3"/>
              </a:rPr>
              <a:t>Internet Explorer</a:t>
            </a:r>
            <a:r>
              <a:rPr lang="en-US" dirty="0"/>
              <a:t> to </a:t>
            </a:r>
            <a:r>
              <a:rPr lang="en-US" b="1" dirty="0">
                <a:hlinkClick r:id="rId4"/>
              </a:rPr>
              <a:t>Microsoft Windows</a:t>
            </a:r>
            <a:r>
              <a:rPr lang="en-US" dirty="0"/>
              <a:t>. Goal: weaken </a:t>
            </a:r>
            <a:r>
              <a:rPr lang="en-US" b="1" dirty="0">
                <a:hlinkClick r:id="rId5"/>
              </a:rPr>
              <a:t>Netscape Navigator</a:t>
            </a:r>
            <a:r>
              <a:rPr lang="en-US" dirty="0"/>
              <a:t>. District court: anticompetitive tying. Appeals court: rejected per se tying. Still relevant as </a:t>
            </a:r>
            <a:r>
              <a:rPr lang="en-US" b="1" dirty="0"/>
              <a:t>exclusionary conduct under §2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Case 3: Monopolization (OS Market)</a:t>
            </a:r>
          </a:p>
          <a:p>
            <a:r>
              <a:rPr lang="en-US" dirty="0"/>
              <a:t>Microsoft had monopoly in PC operating systems. Threat: middleware like </a:t>
            </a:r>
            <a:r>
              <a:rPr lang="en-US" b="1" dirty="0">
                <a:hlinkClick r:id="rId6"/>
              </a:rPr>
              <a:t>Java</a:t>
            </a:r>
            <a:r>
              <a:rPr lang="en-US" dirty="0"/>
              <a:t>. Middleware could reduce application entry barriers. Microsoft acted to block these threats. Used contracts and technical restrictions.</a:t>
            </a:r>
          </a:p>
          <a:p>
            <a:r>
              <a:rPr lang="en-US" dirty="0"/>
              <a:t>Court: unlawful maintenance of monopoly under Section 2 of the </a:t>
            </a:r>
            <a:r>
              <a:rPr lang="en-US" dirty="0">
                <a:hlinkClick r:id="rId7"/>
              </a:rPr>
              <a:t>Sherman Act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434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Argument: extend monopoly in OS to complements.</a:t>
            </a:r>
          </a:p>
          <a:p>
            <a:r>
              <a:rPr lang="en-US" dirty="0"/>
              <a:t>Degrading interoperability.  Raises switching costs.</a:t>
            </a:r>
          </a:p>
          <a:p>
            <a:endParaRPr lang="en-US" dirty="0"/>
          </a:p>
          <a:p>
            <a:r>
              <a:rPr lang="en-US" dirty="0"/>
              <a:t>Super app.  WeChat. (friends, shopping, favorite restaurants).  You switch from IOS to Android, all that stuff are there.  Makes consumers platform agnostic.</a:t>
            </a:r>
          </a:p>
          <a:p>
            <a:r>
              <a:rPr lang="en-US" dirty="0"/>
              <a:t>Cloud gaming.  Lessen need for good </a:t>
            </a:r>
            <a:r>
              <a:rPr lang="en-US" dirty="0" err="1"/>
              <a:t>hardward</a:t>
            </a:r>
            <a:r>
              <a:rPr lang="en-US" dirty="0"/>
              <a:t>.  Dumbphone.</a:t>
            </a:r>
          </a:p>
          <a:p>
            <a:r>
              <a:rPr lang="en-US" dirty="0"/>
              <a:t>Messaging.  De-grade non-iOS messaging (you can’t give thumbs up).  Multi-homing for messaging is easy and common.</a:t>
            </a:r>
          </a:p>
          <a:p>
            <a:endParaRPr lang="en-US" dirty="0"/>
          </a:p>
          <a:p>
            <a:r>
              <a:rPr lang="en-US" dirty="0"/>
              <a:t>Apple says we can design our product however we want.</a:t>
            </a:r>
          </a:p>
          <a:p>
            <a:r>
              <a:rPr lang="en-US" dirty="0"/>
              <a:t>If we do all of our shopping on one </a:t>
            </a:r>
            <a:r>
              <a:rPr lang="en-US" dirty="0" err="1"/>
              <a:t>devide</a:t>
            </a:r>
            <a:r>
              <a:rPr lang="en-US" dirty="0"/>
              <a:t>.  Concern: What if apple tells a car company they have to pay 1000 to get their app on our phones (maybe they don’t have that incentives, but they can)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4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DOJ’s complaint</a:t>
            </a:r>
          </a:p>
          <a:p>
            <a:endParaRPr lang="en-US" dirty="0"/>
          </a:p>
          <a:p>
            <a:r>
              <a:rPr lang="en-US" dirty="0"/>
              <a:t>Still ongoing.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924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2047B-1C04-9226-C6CC-1CBCE1AF3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0529B7-1DEC-535E-FE75-14D071B43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89E17-962D-51D3-A62B-005E4B95C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Argument: extend monopoly in OS to complements.</a:t>
            </a:r>
          </a:p>
          <a:p>
            <a:r>
              <a:rPr lang="en-US" dirty="0"/>
              <a:t>Degrading interoperability.  Raises switching costs.</a:t>
            </a:r>
          </a:p>
          <a:p>
            <a:endParaRPr lang="en-US" dirty="0"/>
          </a:p>
          <a:p>
            <a:r>
              <a:rPr lang="en-US" dirty="0"/>
              <a:t>Super app.  WeChat. (friends, shopping, favorite restaurants).  You switch from IOS to Android, all that stuff are there.  Makes consumers platform agnostic.</a:t>
            </a:r>
          </a:p>
          <a:p>
            <a:r>
              <a:rPr lang="en-US" dirty="0"/>
              <a:t>Cloud gaming.  Lessen need for good hardware.  Dumbphone.</a:t>
            </a:r>
          </a:p>
          <a:p>
            <a:r>
              <a:rPr lang="en-US" dirty="0"/>
              <a:t>Messaging.  De-grade non-iOS messaging (you can’t give thumbs up).</a:t>
            </a:r>
          </a:p>
          <a:p>
            <a:endParaRPr lang="en-US" dirty="0"/>
          </a:p>
          <a:p>
            <a:r>
              <a:rPr lang="en-US" dirty="0"/>
              <a:t>Apple says we can design our product however we want. (Remember second argument: how do you maintain power other than better product?)</a:t>
            </a:r>
          </a:p>
          <a:p>
            <a:r>
              <a:rPr lang="en-US" dirty="0"/>
              <a:t>But are we really only worrying about the price of </a:t>
            </a:r>
            <a:r>
              <a:rPr lang="en-US" dirty="0" err="1"/>
              <a:t>iphones</a:t>
            </a:r>
            <a:r>
              <a:rPr lang="en-US" dirty="0"/>
              <a:t>? Maybe could have charged $600 instead of $800?</a:t>
            </a:r>
          </a:p>
          <a:p>
            <a:r>
              <a:rPr lang="en-US" dirty="0"/>
              <a:t>If we do all of our shopping on one device.  Concern: What if apple tells a car company they have to pay 1000 to get their app on our phones (maybe they don’t have that incentives, but they can)</a:t>
            </a:r>
          </a:p>
          <a:p>
            <a:r>
              <a:rPr lang="en-US" dirty="0"/>
              <a:t>The concern is NOT just that the price of smartphones goes 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49A9B-3463-939F-CBA7-33426B4B3C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0433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It’s hard to imagine what the world would look like if Google hadn’t done its search thing.  Would we have subscription search?  Ads more clear?</a:t>
            </a:r>
          </a:p>
          <a:p>
            <a:endParaRPr lang="en-US" dirty="0"/>
          </a:p>
          <a:p>
            <a:r>
              <a:rPr lang="en-US" dirty="0"/>
              <a:t>Maybe Amazon Fire would have succeeded.</a:t>
            </a:r>
          </a:p>
          <a:p>
            <a:endParaRPr lang="en-US" dirty="0"/>
          </a:p>
          <a:p>
            <a:r>
              <a:rPr lang="en-US" dirty="0"/>
              <a:t>Google search is hard because we don’t know what would happen without these forces.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273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Much more specific question: monopolized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apps.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Epic Games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makes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Fortnite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Apple Inc.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requires iOS apps to: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 distributed through the App Store, and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Apple’s in-app payment system (IAP) for digital goods, taking a ~30% commission.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2020, Epic added its own payment option inside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Fortnite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bypass Apple’s commission. Apple removed the app; Epic sued.</a:t>
            </a:r>
            <a:endParaRPr lang="en-US" dirty="0"/>
          </a:p>
          <a:p>
            <a:endParaRPr lang="en-US" dirty="0"/>
          </a:p>
          <a:p>
            <a:r>
              <a:rPr lang="en-US" dirty="0"/>
              <a:t>Could there have been multiple app stores?</a:t>
            </a:r>
          </a:p>
          <a:p>
            <a:endParaRPr lang="en-US" dirty="0"/>
          </a:p>
          <a:p>
            <a:r>
              <a:rPr lang="en-US" dirty="0"/>
              <a:t>We could have curated app stores.  Green app store.  Children app store.  Rich people app store.  Go to US open, buy </a:t>
            </a:r>
            <a:r>
              <a:rPr lang="en-US" dirty="0" err="1"/>
              <a:t>Champain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Why did judge reject: Apple has not </a:t>
            </a:r>
            <a:r>
              <a:rPr lang="en-US" dirty="0" err="1"/>
              <a:t>monopolied</a:t>
            </a:r>
            <a:r>
              <a:rPr lang="en-US" dirty="0"/>
              <a:t> distribution of apps.  Android, console, PC.  Second was how to maintain.  Didn’t show any exclusive contracts.</a:t>
            </a:r>
          </a:p>
          <a:p>
            <a:endParaRPr lang="en-US" dirty="0"/>
          </a:p>
          <a:p>
            <a:r>
              <a:rPr lang="en-US" dirty="0"/>
              <a:t>So neither condition holds (1) no monopoly (2) no contract to limit competition (just design)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805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4D800-BBE2-A481-B0AD-6ED4C8E91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9E0A0-282C-2516-D8C7-91ECF5819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C5F8A-8FB8-D50E-6127-A88782459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did monopolize by *disadvantaging other stores*.  Apple didn’t have them to start with!</a:t>
            </a:r>
          </a:p>
          <a:p>
            <a:endParaRPr lang="en-US" dirty="0"/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OEM = Original Equipment Manufacturer.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35D37-AFFB-BF4D-8AD2-2E7EB95371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3981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for Google:</a:t>
            </a:r>
          </a:p>
          <a:p>
            <a:r>
              <a:rPr lang="en-US" dirty="0"/>
              <a:t>- Google is just better.  Isn't it how competition works? In fact OK under US and EU law.  But should it be?</a:t>
            </a:r>
          </a:p>
          <a:p>
            <a:pPr marL="171450" indent="-171450">
              <a:buFontTx/>
              <a:buChar char="-"/>
            </a:pPr>
            <a:r>
              <a:rPr lang="en-US" dirty="0"/>
              <a:t>But maybe people use Google because Google Search is good, but </a:t>
            </a:r>
            <a:r>
              <a:rPr lang="en-US" dirty="0" err="1"/>
              <a:t>Foundem</a:t>
            </a:r>
            <a:r>
              <a:rPr lang="en-US" dirty="0"/>
              <a:t> is better than Google.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Foundem</a:t>
            </a:r>
            <a:r>
              <a:rPr lang="en-US" dirty="0"/>
              <a:t> is there an consumers can use </a:t>
            </a:r>
            <a:r>
              <a:rPr lang="en-US" dirty="0" err="1"/>
              <a:t>it.If</a:t>
            </a:r>
            <a:r>
              <a:rPr lang="en-US" dirty="0"/>
              <a:t> they choose to use Google, then they are benefiting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What’s even the harm?  Google is free!</a:t>
            </a:r>
          </a:p>
          <a:p>
            <a:endParaRPr lang="en-US" dirty="0"/>
          </a:p>
          <a:p>
            <a:r>
              <a:rPr lang="en-US" dirty="0"/>
              <a:t>Case against:</a:t>
            </a:r>
          </a:p>
          <a:p>
            <a:pPr marL="171450" indent="-171450">
              <a:buFontTx/>
              <a:buChar char="-"/>
            </a:pPr>
            <a:r>
              <a:rPr lang="en-US" dirty="0"/>
              <a:t>Comparison shopping websites increase competition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Google is reducing competition</a:t>
            </a:r>
          </a:p>
          <a:p>
            <a:r>
              <a:rPr lang="en-US" dirty="0"/>
              <a:t>- If consumers don't know all prices, then sellers have market power</a:t>
            </a:r>
          </a:p>
          <a:p>
            <a:r>
              <a:rPr lang="en-US" dirty="0"/>
              <a:t>- So prices go up</a:t>
            </a:r>
          </a:p>
          <a:p>
            <a:endParaRPr lang="en-US" dirty="0"/>
          </a:p>
          <a:p>
            <a:r>
              <a:rPr lang="en-US" dirty="0"/>
              <a:t>Verdict:</a:t>
            </a:r>
          </a:p>
          <a:p>
            <a:r>
              <a:rPr lang="en-US" dirty="0"/>
              <a:t>-Google found guilty of anticompetitive behavior in Europe</a:t>
            </a:r>
          </a:p>
          <a:p>
            <a:r>
              <a:rPr lang="en-US" dirty="0"/>
              <a:t>- They have to treat their own results and comparison shopping equally (not clear)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9220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 </a:t>
            </a:r>
            <a:r>
              <a:rPr lang="en-US" dirty="0" err="1"/>
              <a:t>yo</a:t>
            </a:r>
            <a:r>
              <a:rPr lang="en-US" dirty="0"/>
              <a:t> Yale law student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7558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40695-D1C7-0653-5E6B-209C911C5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95962-D043-DBB3-8385-89ABE3713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A6DFC-4E86-3607-EE6C-C9CE70AE5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Amazon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resembles the all-powerful railroads of the Progressive Era, Ms. Khan wrote: “The thousands of retailers and independent businesses that must ride Amazon’s rails to reach market are increasingly dependent on their biggest competitor.”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7B4A6-2C08-E173-B95B-5855D51DC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91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0142D-F503-0A81-2EAD-34CB102B6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C7FEA-ED0A-2552-0090-7B13A9DAFA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E158EF-87F9-3A22-4802-A5A82EA52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AC90C-26DE-794B-B01B-25C6666E57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655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156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1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09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00152"/>
            <a:ext cx="53848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00152"/>
            <a:ext cx="53848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621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54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143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65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98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33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87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6376"/>
            <a:ext cx="2743200" cy="43878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06376"/>
            <a:ext cx="8026400" cy="43878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10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84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7637" y="1722475"/>
            <a:ext cx="99337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Ariel"/>
              </a:rPr>
              <a:t>Scale, Scope, and modern Antitrust</a:t>
            </a:r>
          </a:p>
          <a:p>
            <a:pPr algn="ctr"/>
            <a:endParaRPr lang="en-US" sz="2800" dirty="0">
              <a:solidFill>
                <a:schemeClr val="bg1"/>
              </a:solidFill>
              <a:latin typeface="Ariel"/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Ariel"/>
              </a:rPr>
              <a:t>Competitive Strategy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Ariel"/>
              </a:rPr>
              <a:t>Nima Haghpanah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840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7D2F9-AFA0-739F-F216-2F0A949E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A7AF5-12C6-B9C3-D1C2-EE4C30CFD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Helvetica" pitchFamily="2" charset="0"/>
              </a:rPr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36712-93DE-876F-B843-5F54D1DBA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0" y="1783082"/>
            <a:ext cx="9875520" cy="4073367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Final exam Thursday May 7, 9am-10:20.</a:t>
            </a:r>
            <a:endParaRPr lang="en-US" sz="1867" dirty="0">
              <a:solidFill>
                <a:schemeClr val="bg1"/>
              </a:solidFill>
            </a:endParaRPr>
          </a:p>
          <a:p>
            <a:pPr lvl="1"/>
            <a:r>
              <a:rPr lang="en-US" sz="1920" dirty="0">
                <a:solidFill>
                  <a:schemeClr val="bg1"/>
                </a:solidFill>
              </a:rPr>
              <a:t>Practice problem set (with solutions) posted</a:t>
            </a:r>
          </a:p>
          <a:p>
            <a:pPr lvl="1"/>
            <a:r>
              <a:rPr lang="en-US" sz="1920" dirty="0">
                <a:solidFill>
                  <a:schemeClr val="bg1"/>
                </a:solidFill>
              </a:rPr>
              <a:t>Explain your answers!</a:t>
            </a:r>
          </a:p>
          <a:p>
            <a:pPr lvl="1"/>
            <a:r>
              <a:rPr lang="en-US" sz="1920" dirty="0">
                <a:solidFill>
                  <a:schemeClr val="bg1"/>
                </a:solidFill>
              </a:rPr>
              <a:t>Review session recording on Canvas</a:t>
            </a:r>
          </a:p>
          <a:p>
            <a:pPr lvl="1"/>
            <a:endParaRPr lang="en-US" sz="192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Drinks tonight!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67" dirty="0">
                <a:solidFill>
                  <a:schemeClr val="bg1"/>
                </a:solidFill>
              </a:rPr>
              <a:t>Sign up on Canvas</a:t>
            </a:r>
          </a:p>
          <a:p>
            <a:pPr lvl="1"/>
            <a:endParaRPr lang="en-US" sz="2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313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DD268-325C-32DF-B047-D282114F8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EC6BD-1CE0-02F7-84B4-8CF7846DC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did Uber disrupt taxi industry?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B6D24C-70BB-9B75-2CFF-3431368A2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89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6E9B0-87B1-A6BE-0C7F-E22180AB0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8C22-EA02-376A-B533-CC879BC29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model innovation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2BE53C-9C83-767C-060C-365B4368F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85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Ride Platform Pricing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F4CC-D4E6-3A40-AEC9-02DCB0496238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6FC915-423F-ED4F-B14A-F62D18D7A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066026"/>
            <a:ext cx="6429737" cy="4791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C48B3E-5733-A849-8038-43D795449A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514" y="2039178"/>
            <a:ext cx="5924601" cy="25576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46E9FF-1D4A-A144-969E-C7376AE224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738" y="4634807"/>
            <a:ext cx="5757932" cy="172154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3D9E3-CE70-CF52-30F0-62C1D4642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584" y="1362016"/>
            <a:ext cx="10972800" cy="67776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Here, uncertainty in rides and drivers causes price fluctuations</a:t>
            </a:r>
          </a:p>
        </p:txBody>
      </p:sp>
    </p:spTree>
    <p:extLst>
      <p:ext uri="{BB962C8B-B14F-4D97-AF65-F5344CB8AC3E}">
        <p14:creationId xmlns:p14="http://schemas.microsoft.com/office/powerpoint/2010/main" val="246524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Ride Platform Pricing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F4CC-D4E6-3A40-AEC9-02DCB0496238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E8B79F-B5C9-154F-9470-03B81DF8C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" y="1176867"/>
            <a:ext cx="9042400" cy="450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956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happens when surge is turned off?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F4CC-D4E6-3A40-AEC9-02DCB049623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4CC57B-A2BC-E643-9586-EB9E1B628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1176867"/>
            <a:ext cx="8128000" cy="450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54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What are the welfare effects of dynamic pricing?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F4CC-D4E6-3A40-AEC9-02DCB049623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EB88DD-0934-0247-BBE4-AA0C1E27C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286" y="1733942"/>
            <a:ext cx="6578909" cy="503332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75B7A-FB3F-167B-655B-E64C1B5BB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85" y="1377864"/>
            <a:ext cx="4651435" cy="5147144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Surge pricing results in higher welfare than uniform pricing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Uber is “leaving money on the table” – dynamic considerations of the firm?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Note that rider surplus is being maximized, not driver surplus.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Grow the market? … more difficult in two-sided market where drivers want higher prices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733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872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0A53C-6BA5-589D-7D47-40E433794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D8ECF-A61A-1FFF-BF3A-4C16D5848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Strengths and weaknesses of Uber’s platform strategy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E4FC5F-A08B-E58A-5A5B-D9BC6B6E0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30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AB0E9-D034-93F0-D964-FDC8AACF6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109AC-135E-6A52-9B4F-FB8FC0582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 and Scope effects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BFAEA5-A231-C532-7D0B-CE1C541B5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42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5434-3D23-F744-DA2A-32B653CC7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458E87-78CC-185E-9620-508B483BBE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43575" y="28569"/>
            <a:ext cx="4276725" cy="36929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2E65D9-E132-0B27-E71C-6BCB18298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338" y="3792990"/>
            <a:ext cx="5300662" cy="30875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12813C-4A2A-12DF-8692-7CEB924081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814888" cy="32509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289F1D-CF53-D0F9-E093-CC9916F3D8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1667" y="3250961"/>
            <a:ext cx="4030014" cy="357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83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B8BCDB-79F2-462F-392A-305DF6EFF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849D6-2D25-6624-78B6-527F207EB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Feedback please!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870C231-3D89-4183-144B-CFF65A671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13" y="1450428"/>
            <a:ext cx="11174681" cy="4511101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bg1"/>
                </a:solidFill>
                <a:latin typeface="+mj-lt"/>
              </a:rPr>
              <a:t>Difficulty: Too hard, too easy, just right?</a:t>
            </a:r>
          </a:p>
          <a:p>
            <a:r>
              <a:rPr lang="en-US" sz="2800" dirty="0">
                <a:solidFill>
                  <a:schemeClr val="bg1"/>
                </a:solidFill>
                <a:latin typeface="+mj-lt"/>
              </a:rPr>
              <a:t>Pace: Too fast, too slow, just right?</a:t>
            </a:r>
          </a:p>
          <a:p>
            <a:r>
              <a:rPr lang="en-US" sz="2800" dirty="0">
                <a:solidFill>
                  <a:schemeClr val="bg1"/>
                </a:solidFill>
                <a:latin typeface="+mj-lt"/>
              </a:rPr>
              <a:t>What topic did you like or dislike the most?</a:t>
            </a:r>
          </a:p>
          <a:p>
            <a:r>
              <a:rPr lang="en-US" sz="2800" dirty="0">
                <a:solidFill>
                  <a:schemeClr val="bg1"/>
                </a:solidFill>
                <a:latin typeface="+mj-lt"/>
              </a:rPr>
              <a:t>What topic do you wish we had discussed (or discussed more)?</a:t>
            </a:r>
          </a:p>
          <a:p>
            <a:r>
              <a:rPr lang="en-US" sz="2800" dirty="0">
                <a:solidFill>
                  <a:schemeClr val="bg1"/>
                </a:solidFill>
              </a:rPr>
              <a:t>Guest lectures, cases, lectures, simulation (and games)?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  <a:p>
            <a:r>
              <a:rPr lang="en-US" sz="2800" dirty="0">
                <a:solidFill>
                  <a:schemeClr val="bg1"/>
                </a:solidFill>
                <a:latin typeface="+mj-lt"/>
              </a:rPr>
              <a:t>The types of lectures: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latin typeface="+mj-lt"/>
              </a:rPr>
              <a:t>Conceptual ones (e.g., pros and cons of platforms v pipelines)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latin typeface="+mj-lt"/>
              </a:rPr>
              <a:t>Econ analysis (e.g., what are the prices to the two sides)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latin typeface="+mj-lt"/>
              </a:rPr>
              <a:t>Understanding the CS-tech (blockchains, AI pricing and collusion)</a:t>
            </a:r>
          </a:p>
          <a:p>
            <a:r>
              <a:rPr lang="en-US" sz="2800" dirty="0">
                <a:solidFill>
                  <a:schemeClr val="bg1"/>
                </a:solidFill>
              </a:rPr>
              <a:t>Logistics and classroom tech?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  <a:latin typeface="+mj-lt"/>
            </a:endParaRPr>
          </a:p>
          <a:p>
            <a:pPr marL="0" indent="0">
              <a:buNone/>
            </a:pPr>
            <a:endParaRPr lang="en-US" sz="4000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00197E-11A3-7DBC-E86C-569CBD625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137" y="162431"/>
            <a:ext cx="6473201" cy="653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63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013" y="1450428"/>
            <a:ext cx="11174681" cy="451110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+mj-lt"/>
              </a:rPr>
              <a:t>Example: Microsoft (1997), </a:t>
            </a:r>
          </a:p>
          <a:p>
            <a:r>
              <a:rPr lang="en-US" sz="2800" dirty="0">
                <a:solidFill>
                  <a:schemeClr val="bg1"/>
                </a:solidFill>
                <a:latin typeface="+mj-lt"/>
              </a:rPr>
              <a:t>Very hard to for government to win s2 cases in the US 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+mj-lt"/>
              </a:rPr>
              <a:t>Must distinguish success due to a good product from exercise of market power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+mj-lt"/>
              </a:rPr>
              <a:t>Courts are hostile to antitrust enforcement so agencies are afraid</a:t>
            </a:r>
          </a:p>
          <a:p>
            <a:pPr marL="457200" lvl="1" indent="0">
              <a:buNone/>
            </a:pPr>
            <a:endParaRPr lang="en-US" sz="3200" dirty="0">
              <a:solidFill>
                <a:schemeClr val="bg1"/>
              </a:solidFill>
              <a:latin typeface="+mj-lt"/>
            </a:endParaRPr>
          </a:p>
          <a:p>
            <a:pPr marL="0" indent="0">
              <a:buNone/>
            </a:pPr>
            <a:endParaRPr lang="en-US" sz="4000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9C9979-8204-4B8D-97B9-384BAB2C2703}"/>
              </a:ext>
            </a:extLst>
          </p:cNvPr>
          <p:cNvSpPr txBox="1"/>
          <p:nvPr/>
        </p:nvSpPr>
        <p:spPr>
          <a:xfrm>
            <a:off x="475012" y="356260"/>
            <a:ext cx="10462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+mj-lt"/>
              </a:rPr>
              <a:t>Sherman Act Section 2 prohibits “monopolization”</a:t>
            </a:r>
          </a:p>
        </p:txBody>
      </p:sp>
    </p:spTree>
    <p:extLst>
      <p:ext uri="{BB962C8B-B14F-4D97-AF65-F5344CB8AC3E}">
        <p14:creationId xmlns:p14="http://schemas.microsoft.com/office/powerpoint/2010/main" val="861698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E0CC7-EFDE-AC92-3B6B-6D7A94C4F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US </a:t>
            </a:r>
            <a:r>
              <a:rPr lang="en-US">
                <a:solidFill>
                  <a:schemeClr val="bg1"/>
                </a:solidFill>
              </a:rPr>
              <a:t>v Apple 2024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8D4D9-DE08-3E3C-CE5D-95FBD5861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2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770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B1A84-573E-A5CD-553B-29F2B6358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phone&#10;&#10;AI-generated content may be incorrect.">
            <a:extLst>
              <a:ext uri="{FF2B5EF4-FFF2-40B4-BE49-F238E27FC236}">
                <a16:creationId xmlns:a16="http://schemas.microsoft.com/office/drawing/2014/main" id="{8F257B53-0423-9A9D-1E5B-A3F92DE93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7" y="1091380"/>
            <a:ext cx="12191373" cy="4114801"/>
          </a:xfrm>
        </p:spPr>
      </p:pic>
    </p:spTree>
    <p:extLst>
      <p:ext uri="{BB962C8B-B14F-4D97-AF65-F5344CB8AC3E}">
        <p14:creationId xmlns:p14="http://schemas.microsoft.com/office/powerpoint/2010/main" val="64258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B37FA-2025-EB56-E056-0390699D6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D0BBC-8C52-9ED8-8972-D289CA376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US v Apple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D4DED-8911-5DF7-F2E2-B00997E02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Government’s argument: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Create market power by degrading interoperability and raising switching costs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Super apps, cloud gaming, messaging, …</a:t>
            </a:r>
          </a:p>
          <a:p>
            <a:r>
              <a:rPr lang="en-US" dirty="0">
                <a:solidFill>
                  <a:schemeClr val="bg1"/>
                </a:solidFill>
              </a:rPr>
              <a:t>Apple’s argument: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These are our design choices, I’m creating a better product</a:t>
            </a:r>
          </a:p>
          <a:p>
            <a:r>
              <a:rPr lang="en-US" dirty="0">
                <a:solidFill>
                  <a:schemeClr val="bg1"/>
                </a:solidFill>
              </a:rPr>
              <a:t>Also so what? Are we really worried about the price of </a:t>
            </a:r>
            <a:r>
              <a:rPr lang="en-US" dirty="0" err="1">
                <a:solidFill>
                  <a:schemeClr val="bg1"/>
                </a:solidFill>
              </a:rPr>
              <a:t>iphones</a:t>
            </a:r>
            <a:r>
              <a:rPr lang="en-US" dirty="0">
                <a:solidFill>
                  <a:schemeClr val="bg1"/>
                </a:solidFill>
              </a:rPr>
              <a:t>? </a:t>
            </a:r>
          </a:p>
          <a:p>
            <a:r>
              <a:rPr lang="en-US" dirty="0">
                <a:solidFill>
                  <a:schemeClr val="bg1"/>
                </a:solidFill>
              </a:rPr>
              <a:t>Concern: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Apple has power over businesses who want their apps on Apple devices</a:t>
            </a:r>
          </a:p>
          <a:p>
            <a:r>
              <a:rPr lang="en-US" dirty="0">
                <a:solidFill>
                  <a:schemeClr val="bg1"/>
                </a:solidFill>
              </a:rPr>
              <a:t>Consider both incentive and ability to foreclose</a:t>
            </a:r>
          </a:p>
          <a:p>
            <a:pPr marL="914400" lvl="2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47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104F6-5C27-98D4-12C7-525EB9A0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But for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4A541-B880-18B8-3CAB-4A2DC2E66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would have happened if Apple didn’t engage in those practices?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What would search look like if Google wasn’t so dominant?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How would we restore the lost competition?</a:t>
            </a:r>
          </a:p>
        </p:txBody>
      </p:sp>
    </p:spTree>
    <p:extLst>
      <p:ext uri="{BB962C8B-B14F-4D97-AF65-F5344CB8AC3E}">
        <p14:creationId xmlns:p14="http://schemas.microsoft.com/office/powerpoint/2010/main" val="1050954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F1D0A-B5EE-9B4F-DD48-48B696511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Epic v Apple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57190-9F75-33F1-9FB1-D1C4A324C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Has Apple </a:t>
            </a:r>
            <a:r>
              <a:rPr lang="en-US" b="1" dirty="0">
                <a:solidFill>
                  <a:schemeClr val="bg1"/>
                </a:solidFill>
              </a:rPr>
              <a:t>monopolized distribution</a:t>
            </a:r>
            <a:r>
              <a:rPr lang="en-US" dirty="0">
                <a:solidFill>
                  <a:schemeClr val="bg1"/>
                </a:solidFill>
              </a:rPr>
              <a:t> of apps on IOS? 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Court said no.  However,</a:t>
            </a:r>
          </a:p>
          <a:p>
            <a:r>
              <a:rPr lang="en-US" dirty="0">
                <a:solidFill>
                  <a:schemeClr val="bg1"/>
                </a:solidFill>
              </a:rPr>
              <a:t>Court ruled that developers should be able to talk to their own consumers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“buy this app for cheaper by directly going to our website”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Apple not complying, knowingly</a:t>
            </a:r>
          </a:p>
        </p:txBody>
      </p:sp>
    </p:spTree>
    <p:extLst>
      <p:ext uri="{BB962C8B-B14F-4D97-AF65-F5344CB8AC3E}">
        <p14:creationId xmlns:p14="http://schemas.microsoft.com/office/powerpoint/2010/main" val="246753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4481B-30FC-6016-2908-D35711B90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33CE9-9C21-1959-5085-4F2082AB6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Epic v Google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72636-22A4-0FB3-4D48-AED7BDD47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Google did set up Android to allow for multiple app stores.</a:t>
            </a:r>
          </a:p>
          <a:p>
            <a:r>
              <a:rPr lang="en-US" dirty="0">
                <a:solidFill>
                  <a:schemeClr val="bg1"/>
                </a:solidFill>
              </a:rPr>
              <a:t>The case against Google: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Paid developers to stay out of rival app stores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Paid OEM’s put rival app stores on back pages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Epic won largely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889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0B28C-7652-86D3-CEAB-6B66ACD4B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Google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36F5D-E918-1FC8-4007-02EB76007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2017 in EU</a:t>
            </a:r>
          </a:p>
          <a:p>
            <a:r>
              <a:rPr lang="en-US" dirty="0">
                <a:solidFill>
                  <a:schemeClr val="bg1"/>
                </a:solidFill>
              </a:rPr>
              <a:t>Harm competition by not showing them in search results prominently</a:t>
            </a: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Foundem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Froogle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Cases for and against?</a:t>
            </a:r>
          </a:p>
        </p:txBody>
      </p:sp>
    </p:spTree>
    <p:extLst>
      <p:ext uri="{BB962C8B-B14F-4D97-AF65-F5344CB8AC3E}">
        <p14:creationId xmlns:p14="http://schemas.microsoft.com/office/powerpoint/2010/main" val="1155132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A47A6-B527-FDA3-96A5-0EA302A41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B2BFA1-7140-2531-9B5C-736D92F09C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58691" y="-1"/>
            <a:ext cx="6733309" cy="675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503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63408-FD08-D7FF-237C-646E14A52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Neo-</a:t>
            </a:r>
            <a:r>
              <a:rPr lang="en-US" dirty="0" err="1">
                <a:solidFill>
                  <a:schemeClr val="bg1"/>
                </a:solidFill>
              </a:rPr>
              <a:t>Brandeisian</a:t>
            </a:r>
            <a:r>
              <a:rPr lang="en-US" dirty="0">
                <a:solidFill>
                  <a:schemeClr val="bg1"/>
                </a:solidFill>
              </a:rPr>
              <a:t> Antitrust (Lina Khan)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5B7C86-B514-0DF0-ABFA-1D3D309F68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416360"/>
            <a:ext cx="10717161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If prices are zero, where is the harm?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Power, not prices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Market power can harm consumers through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choice, quality, innovation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and dependency—even when prices are zero.  And they do pay high prices indirectly.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Gatekeeping &amp; exclusion</a:t>
            </a:r>
            <a:endParaRPr lang="en-US" altLang="en-US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Dominant platforms can shape who reaches users, who survives, and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which rivals never emerge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Dynamic harms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real cost shows up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less innovation, weaker competition, fewer alternatives.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Enforcement posture</a:t>
            </a:r>
            <a:endParaRPr lang="en-US" altLang="en-US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Willing to intervene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earlier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accept litigation risk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949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C7EFF-518C-F9DD-1FC6-D9B82A22C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C47D0-11E8-437F-0D8F-6EC17181C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18F37-90C4-4FA9-F7B8-3E5CD0F13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44447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Amazon resembles the all-powerful railroads of the Progressive Era: </a:t>
            </a:r>
          </a:p>
          <a:p>
            <a:r>
              <a:rPr lang="en-US" dirty="0">
                <a:solidFill>
                  <a:schemeClr val="bg1"/>
                </a:solidFill>
              </a:rPr>
              <a:t>“The thousands of retailers and independent businesses that must ride Amazon’s rails to reach market are increasingly dependent on their biggest competitor.”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876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4D04B-BAB2-C1D5-690B-41AD9A7C7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CED29-CB25-68A6-A6F4-D5CEC5D9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D2C02-87FA-DDF6-2056-7D18AA24C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44447"/>
            <a:ext cx="10972800" cy="4525963"/>
          </a:xfrm>
        </p:spPr>
        <p:txBody>
          <a:bodyPr/>
          <a:lstStyle/>
          <a:p>
            <a:pPr marL="0" indent="0" algn="ctr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500" dirty="0">
                <a:solidFill>
                  <a:schemeClr val="bg1"/>
                </a:solidFill>
              </a:rPr>
              <a:t>Thank you!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133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17371</TotalTime>
  <Words>2030</Words>
  <Application>Microsoft Macintosh PowerPoint</Application>
  <PresentationFormat>Widescreen</PresentationFormat>
  <Paragraphs>233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Ariel</vt:lpstr>
      <vt:lpstr>Calibri</vt:lpstr>
      <vt:lpstr>Garamond</vt:lpstr>
      <vt:lpstr>Helvetica</vt:lpstr>
      <vt:lpstr>Office Theme</vt:lpstr>
      <vt:lpstr>PowerPoint Presentation</vt:lpstr>
      <vt:lpstr>Announcements</vt:lpstr>
      <vt:lpstr>How did Uber disrupt taxi industry?</vt:lpstr>
      <vt:lpstr>Business model innovation</vt:lpstr>
      <vt:lpstr>Ride Platform Pricing</vt:lpstr>
      <vt:lpstr>Ride Platform Pricing</vt:lpstr>
      <vt:lpstr>What happens when surge is turned off?</vt:lpstr>
      <vt:lpstr>What are the welfare effects of dynamic pricing?</vt:lpstr>
      <vt:lpstr>Strengths and weaknesses of Uber’s platform strategy</vt:lpstr>
      <vt:lpstr>Scale and Scope effects</vt:lpstr>
      <vt:lpstr>PowerPoint Presentation</vt:lpstr>
      <vt:lpstr>Feedback please!</vt:lpstr>
      <vt:lpstr>PowerPoint Presentation</vt:lpstr>
      <vt:lpstr>US v Apple 2024</vt:lpstr>
      <vt:lpstr>PowerPoint Presentation</vt:lpstr>
      <vt:lpstr>US v Apple</vt:lpstr>
      <vt:lpstr>But for world</vt:lpstr>
      <vt:lpstr>Epic v Apple</vt:lpstr>
      <vt:lpstr>Epic v Google</vt:lpstr>
      <vt:lpstr>Google search</vt:lpstr>
      <vt:lpstr>PowerPoint Presentation</vt:lpstr>
      <vt:lpstr>Neo-Brandeisian Antitrust (Lina Khan)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 Mattison</dc:creator>
  <cp:lastModifiedBy>Haghpanah, Nima</cp:lastModifiedBy>
  <cp:revision>437</cp:revision>
  <dcterms:created xsi:type="dcterms:W3CDTF">2014-02-13T15:12:24Z</dcterms:created>
  <dcterms:modified xsi:type="dcterms:W3CDTF">2026-05-04T16:41:02Z</dcterms:modified>
</cp:coreProperties>
</file>